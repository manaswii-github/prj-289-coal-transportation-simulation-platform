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0"/>
  </p:notesMasterIdLst>
  <p:sldIdLst>
    <p:sldId id="274" r:id="rId5"/>
    <p:sldId id="256" r:id="rId6"/>
    <p:sldId id="257" r:id="rId7"/>
    <p:sldId id="269" r:id="rId8"/>
    <p:sldId id="268" r:id="rId9"/>
    <p:sldId id="273" r:id="rId10"/>
    <p:sldId id="275" r:id="rId11"/>
    <p:sldId id="278" r:id="rId12"/>
    <p:sldId id="277" r:id="rId13"/>
    <p:sldId id="276" r:id="rId14"/>
    <p:sldId id="272" r:id="rId15"/>
    <p:sldId id="271" r:id="rId16"/>
    <p:sldId id="270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97" dt="2026-08-28T19:35:07.833"/>
    <p1510:client id="{DFB5E19E-44E7-2C95-6961-A9E62810BA26}" v="209" dt="2026-08-28T22:10:51.650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AD6F66A-48D7-732B-3078-78ACED6C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BBDC5EE-91C4-FFB7-7757-63BB8799E3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A91BB017-3700-98FF-D6F9-5494282CDB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469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aswii-github/multimodal-visibulity-coal-transportation-platform.g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aswii-github/multimodal-visibulity-coal-transportation-platform/blob/main/01_Literature_Survey_Full.m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aswii-github/multimodal-visibulity-coal-transportation-platform/blob/main/01_Literature_Survey_Full.m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bchujBSWnzguO-oUntZDeZZ-JAIu2rf/view?usp=shar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eed.com/career-advice/career-development/how-to-cite-a-research-pap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GB">
                <a:latin typeface="Cambria"/>
                <a:ea typeface="Cambria"/>
              </a:rPr>
              <a:t>Project ID: 289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Name of the Program(s): </a:t>
            </a:r>
            <a:r>
              <a:rPr lang="en-US" sz="2000" b="1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B Tech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HoD</a:t>
            </a:r>
            <a:r>
              <a:rPr lang="en-US" sz="2000" b="1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 (Team Leader’s): Dr. Asif </a:t>
            </a:r>
            <a:r>
              <a:rPr lang="en-US" sz="2000" b="1" dirty="0" err="1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Mohamma</a:t>
            </a:r>
            <a:r>
              <a:rPr lang="en-US" sz="20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Name of the Program Project Coordinator </a:t>
            </a:r>
            <a:r>
              <a:rPr lang="en-US" sz="20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(Team Leader’s)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: </a:t>
            </a:r>
            <a:r>
              <a:rPr lang="en-US" sz="2000" b="1" dirty="0" err="1">
                <a:solidFill>
                  <a:schemeClr val="accent1"/>
                </a:solidFill>
                <a:latin typeface="Cambria"/>
                <a:ea typeface="Cambria"/>
                <a:sym typeface="Verdana"/>
              </a:rPr>
              <a:t>Dr.Jayavadivel</a:t>
            </a:r>
            <a:r>
              <a:rPr lang="en-US" sz="2000" b="1" dirty="0">
                <a:solidFill>
                  <a:schemeClr val="accent1"/>
                </a:solidFill>
                <a:latin typeface="Cambria"/>
                <a:ea typeface="Cambria"/>
                <a:sym typeface="Verdana"/>
              </a:rPr>
              <a:t> Ravi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/>
              <a:ea typeface="Cambri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274501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Manaswi </a:t>
                      </a:r>
                      <a:r>
                        <a:rPr lang="en-GB" dirty="0" err="1"/>
                        <a:t>Bhujange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20231CSE0430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Shinde Nandini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20231CSE0421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Biradar Ashwini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20231CSE0400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>
                <a:latin typeface="Cambria"/>
                <a:ea typeface="Cambria"/>
              </a:rPr>
              <a:t>Panel No: 18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 Hub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Statement/Output Expected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/>
                <a:ea typeface="Cambria"/>
              </a:rPr>
              <a:t>Problem Statement Number: 289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>
                <a:latin typeface="Cambria"/>
                <a:ea typeface="Cambria"/>
              </a:rPr>
              <a:t>Category (Hardware / Software / Both) : Software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Description:</a:t>
            </a:r>
            <a:r>
              <a:rPr lang="en-US">
                <a:latin typeface="Cambria"/>
                <a:ea typeface="Cambria"/>
              </a:rPr>
              <a:t> </a:t>
            </a:r>
          </a:p>
          <a:p>
            <a:pPr marL="342900" indent="-190500" algn="just">
              <a:lnSpc>
                <a:spcPct val="200000"/>
              </a:lnSpc>
              <a:buNone/>
            </a:pPr>
            <a:r>
              <a:rPr lang="en-US" dirty="0">
                <a:latin typeface="Cambria"/>
                <a:ea typeface="Cambria"/>
              </a:rPr>
              <a:t>Shipment information is spread </a:t>
            </a:r>
            <a:r>
              <a:rPr lang="en-US" dirty="0" err="1">
                <a:latin typeface="Cambria"/>
                <a:ea typeface="Cambria"/>
              </a:rPr>
              <a:t>acrossmultiple</a:t>
            </a:r>
            <a:r>
              <a:rPr lang="en-US" dirty="0">
                <a:latin typeface="Cambria"/>
                <a:ea typeface="Cambria"/>
              </a:rPr>
              <a:t> transport stages.</a:t>
            </a:r>
          </a:p>
          <a:p>
            <a:pPr marL="342900" indent="-190500" algn="just">
              <a:lnSpc>
                <a:spcPct val="200000"/>
              </a:lnSpc>
              <a:buNone/>
            </a:pPr>
            <a:r>
              <a:rPr lang="en-US" dirty="0">
                <a:latin typeface="Cambria"/>
                <a:ea typeface="Cambria"/>
              </a:rPr>
              <a:t>Delays and disruptions can be </a:t>
            </a:r>
            <a:r>
              <a:rPr lang="en-US" dirty="0" err="1">
                <a:latin typeface="Cambria"/>
                <a:ea typeface="Cambria"/>
              </a:rPr>
              <a:t>identifiedtoo</a:t>
            </a:r>
            <a:r>
              <a:rPr lang="en-US" dirty="0">
                <a:latin typeface="Cambria"/>
                <a:ea typeface="Cambria"/>
              </a:rPr>
              <a:t> late.</a:t>
            </a:r>
          </a:p>
          <a:p>
            <a:pPr marL="342900" indent="-190500" algn="just">
              <a:lnSpc>
                <a:spcPct val="200000"/>
              </a:lnSpc>
              <a:buNone/>
            </a:pPr>
            <a:r>
              <a:rPr lang="en-US" dirty="0">
                <a:latin typeface="Cambria"/>
                <a:ea typeface="Cambria"/>
              </a:rPr>
              <a:t>Manual monitoring makes </a:t>
            </a:r>
            <a:r>
              <a:rPr lang="en-US">
                <a:latin typeface="Cambria"/>
                <a:ea typeface="Cambria"/>
              </a:rPr>
              <a:t>coordination difficult</a:t>
            </a:r>
            <a:r>
              <a:rPr lang="en-US" dirty="0">
                <a:latin typeface="Cambria"/>
                <a:ea typeface="Cambria"/>
              </a:rPr>
              <a:t>.</a:t>
            </a:r>
          </a:p>
          <a:p>
            <a:pPr marL="342900" indent="-190500" algn="just">
              <a:lnSpc>
                <a:spcPct val="200000"/>
              </a:lnSpc>
              <a:buNone/>
            </a:pPr>
            <a:r>
              <a:rPr lang="en-US" dirty="0">
                <a:latin typeface="Cambria"/>
                <a:ea typeface="Cambria"/>
              </a:rPr>
              <a:t>Decision-makers need one clear view </a:t>
            </a:r>
            <a:r>
              <a:rPr lang="en-US">
                <a:latin typeface="Cambria"/>
                <a:ea typeface="Cambria"/>
              </a:rPr>
              <a:t>of shipment status.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/>
                <a:ea typeface="Cambria"/>
              </a:rPr>
              <a:t>Difficulty Level</a:t>
            </a:r>
            <a:r>
              <a:rPr lang="en-US">
                <a:latin typeface="Cambria"/>
                <a:ea typeface="Cambria"/>
              </a:rPr>
              <a:t>: High</a:t>
            </a:r>
            <a:endParaRPr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 Link to the Project Repository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About the project:</a:t>
            </a:r>
            <a:endParaRPr lang="en-US"/>
          </a:p>
          <a:p>
            <a:pPr marL="342900" indent="-190500" algn="just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Centralize shipment and transportation-event data.</a:t>
            </a:r>
          </a:p>
          <a:p>
            <a:pPr marL="342900" indent="-190500" algn="just"/>
            <a:r>
              <a:rPr lang="en-US" dirty="0">
                <a:latin typeface="Cambria"/>
                <a:ea typeface="Cambria"/>
              </a:rPr>
              <a:t>Provide a single dashboard for road + </a:t>
            </a:r>
            <a:r>
              <a:rPr lang="en-US">
                <a:latin typeface="Cambria"/>
                <a:ea typeface="Cambria"/>
              </a:rPr>
              <a:t>rail visibility</a:t>
            </a:r>
            <a:r>
              <a:rPr lang="en-US" dirty="0">
                <a:latin typeface="Cambria"/>
                <a:ea typeface="Cambria"/>
              </a:rPr>
              <a:t>.</a:t>
            </a:r>
          </a:p>
          <a:p>
            <a:pPr marL="342900" indent="-190500" algn="just"/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Use AI for delay and ETA prediction.</a:t>
            </a:r>
          </a:p>
          <a:p>
            <a:pPr marL="342900" indent="-190500" algn="just"/>
            <a:r>
              <a:rPr lang="en-US" dirty="0">
                <a:latin typeface="Cambria"/>
                <a:ea typeface="Cambria"/>
              </a:rPr>
              <a:t>Use cloud infrastructure for storage </a:t>
            </a:r>
            <a:r>
              <a:rPr lang="en-US">
                <a:latin typeface="Cambria"/>
                <a:ea typeface="Cambria"/>
              </a:rPr>
              <a:t>and access</a:t>
            </a:r>
            <a:r>
              <a:rPr lang="en-US" dirty="0">
                <a:latin typeface="Cambria"/>
                <a:ea typeface="Cambria"/>
              </a:rPr>
              <a:t>.</a:t>
            </a:r>
          </a:p>
          <a:p>
            <a:pPr marL="342900" indent="-190500">
              <a:buClr>
                <a:srgbClr val="000000"/>
              </a:buClr>
            </a:pPr>
            <a:r>
              <a:rPr lang="en-US">
                <a:latin typeface="Cambria"/>
                <a:ea typeface="Cambria"/>
              </a:rPr>
              <a:t>Benefits: 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1.Better visibility across the shipment journey. 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2. Less manual tracking and fewer information gaps. 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3. Faster response to predicted delays.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4. Data-driven operational decisions.</a:t>
            </a:r>
          </a:p>
          <a:p>
            <a:pPr marL="342900" indent="-190500" algn="just">
              <a:buClr>
                <a:srgbClr val="000000"/>
              </a:buClr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/>
                <a:ea typeface="Cambria"/>
                <a:hlinkClick r:id="rId3"/>
              </a:rPr>
              <a:t>Refer the full literature survey here</a:t>
            </a:r>
            <a:endParaRPr lang="en-US" sz="2000" b="1" dirty="0">
              <a:latin typeface="Cambria"/>
              <a:ea typeface="Cambria"/>
            </a:endParaRPr>
          </a:p>
          <a:p>
            <a:pPr marL="342900" indent="-190500" algn="just">
              <a:spcBef>
                <a:spcPts val="0"/>
              </a:spcBef>
              <a:buNone/>
            </a:pPr>
            <a:endParaRPr lang="en-US" sz="2000" b="1" dirty="0">
              <a:latin typeface="Cambria"/>
              <a:ea typeface="Cambria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sz="2000" b="1">
                <a:latin typeface="Cambria"/>
                <a:ea typeface="Cambria"/>
              </a:rPr>
              <a:t>The Problem: What the Research found</a:t>
            </a:r>
            <a:endParaRPr lang="en-US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Coal gives India ~70% of its electricity (Ilahi, 2024)</a:t>
            </a:r>
            <a:endParaRPr lang="en-US" sz="1800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Coal moves by truck, train, and sometimes barge or ship (Ilahi, 2024)</a:t>
            </a:r>
            <a:endParaRPr lang="en-US" sz="1800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Coal transport is fragmented, each stage tracked in a separate system (Pandey et al., 2025)</a:t>
            </a:r>
            <a:endParaRPr lang="en-US" sz="1800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Wagon turnaround takes ~5 days (Ministry of Coal, 2022)</a:t>
            </a:r>
            <a:endParaRPr lang="en-US" sz="1800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Rake shortages: 241 loaded/day vs 273 target (Ministry of Coal, 2022)</a:t>
            </a:r>
            <a:endParaRPr lang="en-US" sz="1800"/>
          </a:p>
          <a:p>
            <a:pPr marL="342900" indent="-190500" algn="just"/>
            <a:r>
              <a:rPr lang="en-US" sz="1800" dirty="0">
                <a:latin typeface="Cambria"/>
                <a:ea typeface="Cambria"/>
              </a:rPr>
              <a:t>~60 million </a:t>
            </a:r>
            <a:r>
              <a:rPr lang="en-US" sz="1800" dirty="0" err="1">
                <a:latin typeface="Cambria"/>
                <a:ea typeface="Cambria"/>
              </a:rPr>
              <a:t>tonnes</a:t>
            </a:r>
            <a:r>
              <a:rPr lang="en-US" sz="1800" dirty="0">
                <a:latin typeface="Cambria"/>
                <a:ea typeface="Cambria"/>
              </a:rPr>
              <a:t> of coal stranded at mines in 2022 (Ilahi, 2024)</a:t>
            </a:r>
            <a:endParaRPr lang="en-US" sz="1800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1,900 trains cancelled that year to prioritize coal (Ilahi, 2024)</a:t>
            </a:r>
            <a:endParaRPr lang="en-US" sz="1800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Railways carry only ~half of Coal India's dispatches, rest by truck (Ilahi, 2024)</a:t>
            </a:r>
            <a:endParaRPr lang="en-US" sz="1800"/>
          </a:p>
          <a:p>
            <a:pPr marL="342900" indent="-190500" algn="just"/>
            <a:r>
              <a:rPr lang="en-US" sz="1800">
                <a:latin typeface="Cambria"/>
                <a:ea typeface="Cambria"/>
              </a:rPr>
              <a:t>Inland waterways carry less than 0.5% of India's freight (Gupta, 2017)</a:t>
            </a:r>
            <a:endParaRPr lang="en-US" sz="1800"/>
          </a:p>
          <a:p>
            <a:pPr marL="342900" indent="-190500" algn="just">
              <a:spcBef>
                <a:spcPts val="0"/>
              </a:spcBef>
            </a:pPr>
            <a:r>
              <a:rPr lang="en-US" sz="1800">
                <a:latin typeface="Cambria"/>
                <a:ea typeface="Cambria"/>
              </a:rPr>
              <a:t>All sources agree: lack of visibility is a core problem (Pandey et al., 2025)</a:t>
            </a:r>
            <a:endParaRPr lang="en-US" sz="1800"/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dirty="0">
              <a:latin typeface="Cambria"/>
              <a:ea typeface="Cambria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/>
              <a:ea typeface="Cambria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/>
              <a:ea typeface="Cambria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3923D6C-EE2B-8AF7-8C1D-AB445BA4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7358C23-D95C-D8E8-4E61-92E5CD664D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967B12BF-395E-1E07-6BC6-98BC58749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buNone/>
            </a:pPr>
            <a:r>
              <a:rPr lang="en-US" sz="2000" b="1" dirty="0">
                <a:solidFill>
                  <a:srgbClr val="000000"/>
                </a:solidFill>
                <a:latin typeface="Cambria"/>
                <a:ea typeface="Cambria"/>
                <a:hlinkClick r:id="rId3"/>
              </a:rPr>
              <a:t>Refer the full literature survey here</a:t>
            </a:r>
            <a:endParaRPr lang="en-US" sz="2000" b="1">
              <a:solidFill>
                <a:srgbClr val="000000"/>
              </a:solidFill>
              <a:latin typeface="Cambria"/>
              <a:ea typeface="Cambria"/>
            </a:endParaRPr>
          </a:p>
          <a:p>
            <a:pPr marL="342900" indent="-190500" algn="just">
              <a:buNone/>
            </a:pPr>
            <a:r>
              <a:rPr lang="en-US" sz="2000" b="1">
                <a:solidFill>
                  <a:srgbClr val="000000"/>
                </a:solidFill>
                <a:latin typeface="Cambria"/>
                <a:ea typeface="Cambria"/>
              </a:rPr>
              <a:t>What the Literature Has Already Researched</a:t>
            </a:r>
            <a:endParaRPr lang="en-US" sz="2000" b="1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Defined supply chain visibility: sharing timely, accurate, useful info (Barratt &amp; Oke, 2007; Kalaiarasan et al., 2022)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Built the ABCDE framework of visibility: antecedents, barriers, drivers, effects (Kalaiarasan et al., 2022)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Proposed a unified multimodal coal visibility platform (Pandey et al., 2025)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Solved arrival-time prediction with one ML model per transport leg (Balster et al., 2020)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Improved ETA accuracy 15-20% with hybrid methods (Wani, 2025)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Detected disruptions by combining tracking data with text via NLP (Ouedraogo et al., 2025)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Applied blockchain to the coal supply chain with smart contracts (Alam et al., 2025)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 dirty="0">
                <a:solidFill>
                  <a:srgbClr val="000000"/>
                </a:solidFill>
                <a:latin typeface="Cambria"/>
                <a:ea typeface="Cambria"/>
              </a:rPr>
              <a:t>Found data-sharing and governance decide platform success, not technology (</a:t>
            </a:r>
            <a:r>
              <a:rPr lang="en-US" sz="1800" dirty="0" err="1">
                <a:solidFill>
                  <a:srgbClr val="000000"/>
                </a:solidFill>
                <a:latin typeface="Cambria"/>
                <a:ea typeface="Cambria"/>
              </a:rPr>
              <a:t>Wycislak</a:t>
            </a:r>
            <a:r>
              <a:rPr lang="en-US" sz="1800" dirty="0">
                <a:solidFill>
                  <a:srgbClr val="000000"/>
                </a:solidFill>
                <a:latin typeface="Cambria"/>
                <a:ea typeface="Cambria"/>
              </a:rPr>
              <a:t>, 2021)</a:t>
            </a:r>
            <a:endParaRPr lang="en-US" dirty="0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Built a digital twin of a supply chain, reaching 94% service level (Maheshwari et al., 2023)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</a:rPr>
              <a:t>Confirmed Indian Railways already tracks freight in real time via FOIS (Jain, 2022)</a:t>
            </a:r>
            <a:endParaRPr lang="en-US">
              <a:latin typeface="Cambria"/>
              <a:ea typeface="Cambria"/>
            </a:endParaRPr>
          </a:p>
          <a:p>
            <a:pPr marL="342900" indent="-190500" algn="just">
              <a:buClr>
                <a:srgbClr val="000000"/>
              </a:buClr>
            </a:pPr>
            <a:endParaRPr lang="en-US" sz="1800" dirty="0">
              <a:latin typeface="Aptos Display"/>
              <a:ea typeface="Cambria"/>
            </a:endParaRPr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dirty="0">
              <a:latin typeface="Cambria"/>
              <a:ea typeface="Cambria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/>
              <a:ea typeface="Cambria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/>
              <a:ea typeface="Cambria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6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881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>
                <a:latin typeface="Cambria"/>
                <a:ea typeface="Cambria"/>
              </a:rPr>
              <a:t>Architecture Diagram - </a:t>
            </a:r>
            <a:r>
              <a:rPr lang="en-US" dirty="0">
                <a:latin typeface="Cambria"/>
                <a:ea typeface="Cambria"/>
                <a:hlinkClick r:id="rId3"/>
              </a:rPr>
              <a:t>View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60ED4A-2E48-27E2-08F8-9933804AF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29" y="1056640"/>
            <a:ext cx="9531622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/Output Expected</a:t>
            </a:r>
          </a:p>
        </p:txBody>
      </p:sp>
      <p:pic>
        <p:nvPicPr>
          <p:cNvPr id="2" name="Picture 1" descr="1000191049.png">
            <a:extLst>
              <a:ext uri="{FF2B5EF4-FFF2-40B4-BE49-F238E27FC236}">
                <a16:creationId xmlns:a16="http://schemas.microsoft.com/office/drawing/2014/main" id="{58E39136-8FFA-51BE-59A9-952066467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095" y="1149985"/>
            <a:ext cx="9493250" cy="475107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38500-80B4-4E4E-A69E-B46FB3597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indent="-190500" algn="just">
              <a:lnSpc>
                <a:spcPct val="190000"/>
              </a:lnSpc>
              <a:buNone/>
            </a:pPr>
            <a:r>
              <a:rPr lang="en-US" sz="4200" b="1">
                <a:solidFill>
                  <a:srgbClr val="000000"/>
                </a:solidFill>
                <a:latin typeface="Cambria"/>
                <a:ea typeface="Cambria"/>
              </a:rPr>
              <a:t>Hardware Requirements</a:t>
            </a:r>
            <a:endParaRPr lang="en-US" sz="4200" b="1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GPS trackers on trucks and barges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RFID tags and readers at gates and weighbridges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IoT gateway devices to send sensor data to the cloud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Cloud servers (AWS / Azure) for backend, database, and AI models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Development laptops for building and testing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 b="1">
                <a:solidFill>
                  <a:srgbClr val="000000"/>
                </a:solidFill>
                <a:latin typeface="Cambria"/>
                <a:ea typeface="Cambria"/>
              </a:rPr>
              <a:t>Software Requirements</a:t>
            </a:r>
            <a:endParaRPr lang="en-US" sz="4200" b="1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Frontend: React.js for the dashboard, maps and charts for live tracking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Backend: Java Spring Boot for APIs, Spring Security for login and roles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Real time: Kafka for stream processing and event handling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Cambria"/>
                <a:ea typeface="Cambria"/>
              </a:rPr>
              <a:t>Database: MySQL (records), </a:t>
            </a:r>
            <a:r>
              <a:rPr lang="en-US" sz="4200" dirty="0" err="1">
                <a:solidFill>
                  <a:srgbClr val="000000"/>
                </a:solidFill>
                <a:latin typeface="Cambria"/>
                <a:ea typeface="Cambria"/>
              </a:rPr>
              <a:t>TimescaleDB</a:t>
            </a:r>
            <a:r>
              <a:rPr lang="en-US" sz="4200" dirty="0">
                <a:solidFill>
                  <a:srgbClr val="000000"/>
                </a:solidFill>
                <a:latin typeface="Cambria"/>
                <a:ea typeface="Cambria"/>
              </a:rPr>
              <a:t> or </a:t>
            </a:r>
            <a:r>
              <a:rPr lang="en-US" sz="4200" dirty="0" err="1">
                <a:solidFill>
                  <a:srgbClr val="000000"/>
                </a:solidFill>
                <a:latin typeface="Cambria"/>
                <a:ea typeface="Cambria"/>
              </a:rPr>
              <a:t>InfluxDB</a:t>
            </a:r>
            <a:r>
              <a:rPr lang="en-US" sz="4200" dirty="0">
                <a:solidFill>
                  <a:srgbClr val="000000"/>
                </a:solidFill>
                <a:latin typeface="Cambria"/>
                <a:ea typeface="Cambria"/>
              </a:rPr>
              <a:t> (tracking data), Redis (cache)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Cambria"/>
                <a:ea typeface="Cambria"/>
              </a:rPr>
              <a:t>AI/ML: Python with scikit-learn, </a:t>
            </a:r>
            <a:r>
              <a:rPr lang="en-US" sz="4200" dirty="0" err="1">
                <a:solidFill>
                  <a:srgbClr val="000000"/>
                </a:solidFill>
                <a:latin typeface="Cambria"/>
                <a:ea typeface="Cambria"/>
              </a:rPr>
              <a:t>XGBoost</a:t>
            </a:r>
            <a:r>
              <a:rPr lang="en-US" sz="4200" dirty="0">
                <a:solidFill>
                  <a:srgbClr val="000000"/>
                </a:solidFill>
                <a:latin typeface="Cambria"/>
                <a:ea typeface="Cambria"/>
              </a:rPr>
              <a:t>, TensorFlow for delay, ETA, and anomaly models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Integrations: FOIS and ULIP APIs for rail data, weather and traffic APIs, Email/SMS gateway for alerts</a:t>
            </a:r>
            <a:endParaRPr lang="en-US" sz="4200" dirty="0"/>
          </a:p>
          <a:p>
            <a:pPr marL="342900" indent="-190500" algn="just">
              <a:lnSpc>
                <a:spcPct val="190000"/>
              </a:lnSpc>
              <a:buNone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</a:rPr>
              <a:t>Deployment: Linux, Docker, Kubernetes, GitHub Actions for CI/CD</a:t>
            </a:r>
            <a:endParaRPr lang="en-US" sz="4200" dirty="0"/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br>
              <a:rPr lang="en-US" dirty="0"/>
            </a:br>
            <a:endParaRPr lang="en-US" sz="4200" dirty="0"/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4200" dirty="0"/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4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4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buClr>
                <a:srgbClr val="000000"/>
              </a:buClr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Core problem: coal shipments move through multiple transport modes, but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eachmode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tracked in a separate system, or not tracked at all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Who is affected: mines, transporters, railways, and power plants all work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withincomplete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and delayed information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Why it matters: coal powers ~70% of India's electricity, so transport delays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directlythreaten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power supply (Ilahi, 2024)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Root causes: fragmented data, manual record keeping, no single data standard,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andlow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willingness to share information between organizations (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Wycislak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2021)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Impact: delayed shipments, stranded coal at mines, poor arrival predictions,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andhigher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logistics cost (Ministry of Coal, 2022)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What solving it needs: one real-time platform that integrates data across truck,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rail,and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waterway modes, and gives every stakeholder the same live view</a:t>
            </a:r>
          </a:p>
          <a:p>
            <a:pPr marL="342900" indent="-190500" algn="just">
              <a:spcBef>
                <a:spcPts val="0"/>
              </a:spcBef>
              <a:buClr>
                <a:srgbClr val="000000"/>
              </a:buClr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indent="-190500" algn="just"/>
            <a:r>
              <a:rPr lang="en-US" dirty="0">
                <a:latin typeface="Cambria"/>
                <a:ea typeface="Cambria"/>
              </a:rPr>
              <a:t>Research Survey &amp; Planning Requirements (Aug 16 – Aug 28): literature survey of 16 papers (supply chain visibility, ETA prediction, blockchain, coal logistics), requirements and module analysis, technology stack selection (React, Spring Boot, Kafka, MySQL, </a:t>
            </a:r>
            <a:r>
              <a:rPr lang="en-US" dirty="0" err="1">
                <a:latin typeface="Cambria"/>
                <a:ea typeface="Cambria"/>
              </a:rPr>
              <a:t>TimescaleDB</a:t>
            </a:r>
            <a:r>
              <a:rPr lang="en-US" dirty="0">
                <a:latin typeface="Cambria"/>
                <a:ea typeface="Cambria"/>
              </a:rPr>
              <a:t>, Python ML)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System Design (Sep 1 – Sep 21): layered architecture (sensing → ingestion → backend → AI/ML → presentation), database schema and REST API design, microservice breakdown, dashboard wireframes</a:t>
            </a:r>
            <a:endParaRPr lang="en-US"/>
          </a:p>
          <a:p>
            <a:pPr marL="342900" indent="-190500" algn="just">
              <a:buClr>
                <a:srgbClr val="000000"/>
              </a:buClr>
            </a:pPr>
            <a:r>
              <a:rPr lang="en-US" dirty="0">
                <a:latin typeface="Cambria"/>
                <a:ea typeface="Cambria"/>
              </a:rPr>
              <a:t>Development (Sep 22 – Nov 9): Spring Boot REST APIs with JWT role security, React dashboard with live maps and charts, Kafka + WebSocket real-time tracking pipeline, ETA/delay prediction models (</a:t>
            </a:r>
            <a:r>
              <a:rPr lang="en-US" dirty="0" err="1">
                <a:latin typeface="Cambria"/>
                <a:ea typeface="Cambria"/>
              </a:rPr>
              <a:t>XGBoost</a:t>
            </a:r>
            <a:r>
              <a:rPr lang="en-US" dirty="0">
                <a:latin typeface="Cambria"/>
                <a:ea typeface="Cambria"/>
              </a:rPr>
              <a:t>/LSTM), GPS and RFID data integration</a:t>
            </a:r>
          </a:p>
          <a:p>
            <a:pPr marL="342900" indent="-190500" algn="just">
              <a:buClr>
                <a:srgbClr val="000000"/>
              </a:buClr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Integration &amp; Testing (Nov 3 – Nov 23): module integration, API and end-to-end workflow testing, streaming pipeline performance testing, bug fixing and QA</a:t>
            </a:r>
            <a:endParaRPr lang="en-US"/>
          </a:p>
          <a:p>
            <a:pPr marL="342900" indent="-190500" algn="just">
              <a:buClr>
                <a:srgbClr val="000000"/>
              </a:buClr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Deployment &amp; Submission (Nov 17 – Nov 30): Docker + Kubernetes deployment, CI/CD with GitHub Actions, cloud hosting (AWS/Azure), documentation, final demo and viva</a:t>
            </a:r>
            <a:endParaRPr lang="en-US"/>
          </a:p>
          <a:p>
            <a:pPr marL="342900" indent="-190500" algn="just">
              <a:buClr>
                <a:srgbClr val="000000"/>
              </a:buClr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Add APA Citation for all references.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the below link for various APA styles :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/>
                <a:ea typeface="Cambria"/>
                <a:hlinkClick r:id="rId3"/>
              </a:rPr>
              <a:t>https://www.indeed.com/career-advice/career-development/how-to-cite-a-research-paper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hlinkClick r:id="rId3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Kalaiarasan et al. (2022). The ABCDE of supply chain visibility. Int. J. Production Economics.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Barratt &amp; Oke (2007). Antecedents of supply chain visibility. J. Operations Management.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Pandey et al. (2025). Multi-modal visibility of coal transportation. ICAAAI 2025, Atlantis Press.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Balster et al. (2020). ETA prediction for intermodal transport networks. Business &amp; Inf. Systems Engineering.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 dirty="0">
                <a:solidFill>
                  <a:schemeClr val="tx1"/>
                </a:solidFill>
                <a:latin typeface="Cambria"/>
                <a:ea typeface="Cambria"/>
              </a:rPr>
              <a:t>Wani (2025). Ten tips for improving ETA predictions using ML. </a:t>
            </a:r>
            <a:r>
              <a:rPr lang="en-US" sz="1400" dirty="0" err="1">
                <a:solidFill>
                  <a:schemeClr val="tx1"/>
                </a:solidFill>
                <a:latin typeface="Cambria"/>
                <a:ea typeface="Cambria"/>
              </a:rPr>
              <a:t>PeerJ</a:t>
            </a:r>
            <a:r>
              <a:rPr lang="en-US" sz="1400" dirty="0">
                <a:solidFill>
                  <a:schemeClr val="tx1"/>
                </a:solidFill>
                <a:latin typeface="Cambria"/>
                <a:ea typeface="Cambria"/>
              </a:rPr>
              <a:t> Computer Science.</a:t>
            </a: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Ouedraogo et al. (2025). Real-time multimodal container transport risk management. Eng. Applications of AI.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Alam et al. (2025). Blockchain-based coal supply chain management. Discover Computing.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Wycislak (2021). Real time visibility in a transportation network. Int. J. Supply Chain Management.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Maheshwari et al. (2023). Digital twin-driven real-time supply chain control. Technological Forecasting &amp; Social Change.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Gupta (2017). Inland waterways transportation in India. Journal of Commerce and Trade.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Raghuram (2006). Viability of inland water transport in India. IIM Ahmedabad.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 dirty="0">
                <a:solidFill>
                  <a:schemeClr val="tx1"/>
                </a:solidFill>
                <a:latin typeface="Cambria"/>
                <a:ea typeface="Cambria"/>
              </a:rPr>
              <a:t>Sudhakaran et al. (2024). Smart data for IoT-based railway system using RFID. </a:t>
            </a:r>
            <a:r>
              <a:rPr lang="en-US" sz="1400" dirty="0" err="1">
                <a:solidFill>
                  <a:schemeClr val="tx1"/>
                </a:solidFill>
                <a:latin typeface="Cambria"/>
                <a:ea typeface="Cambria"/>
              </a:rPr>
              <a:t>Automatika</a:t>
            </a:r>
            <a:r>
              <a:rPr lang="en-US" sz="1400" dirty="0">
                <a:solidFill>
                  <a:schemeClr val="tx1"/>
                </a:solidFill>
                <a:latin typeface="Cambria"/>
                <a:ea typeface="Cambria"/>
              </a:rPr>
              <a:t>.</a:t>
            </a: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Jimoh et al. (2025). IoT based vehicle tracking system. J. Engineering Research &amp; Development.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Ilahi (2024). Coal supply chain in India: Challenges &amp; road ahead. TIJER.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Ministry of Coal (2022). Draft National Coal Logistics Plan. Government of India.</a:t>
            </a:r>
            <a:endParaRPr lang="en-US" sz="1400">
              <a:latin typeface="Cambria"/>
              <a:ea typeface="Cambria"/>
            </a:endParaRPr>
          </a:p>
          <a:p>
            <a:pPr marL="285750" indent="-285750" algn="just">
              <a:buClr>
                <a:srgbClr val="000000"/>
              </a:buClr>
            </a:pPr>
            <a:r>
              <a:rPr lang="en-US" sz="1400">
                <a:solidFill>
                  <a:schemeClr val="tx1"/>
                </a:solidFill>
                <a:latin typeface="Cambria"/>
                <a:ea typeface="Cambria"/>
              </a:rPr>
              <a:t>Jain (2022). Indian Railways' freight IT system. Global Railway Review.</a:t>
            </a:r>
            <a:endParaRPr lang="en-US" sz="1400">
              <a:latin typeface="Cambria"/>
              <a:ea typeface="Cambria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/>
              <a:ea typeface="Cambria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262</Words>
  <Application>Microsoft Office PowerPoint</Application>
  <PresentationFormat>Widescreen</PresentationFormat>
  <Paragraphs>81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Bioinformatics</vt:lpstr>
      <vt:lpstr>PowerPoint Presentation</vt:lpstr>
      <vt:lpstr>PROJECT TITLE</vt:lpstr>
      <vt:lpstr>INDEX</vt:lpstr>
      <vt:lpstr>Problem Statement Number: 289</vt:lpstr>
      <vt:lpstr>Github Link</vt:lpstr>
      <vt:lpstr>Introduction</vt:lpstr>
      <vt:lpstr>Literature Review</vt:lpstr>
      <vt:lpstr>Literature Review</vt:lpstr>
      <vt:lpstr>Architecture Diagram - View</vt:lpstr>
      <vt:lpstr>Analysis of Problem Statement /Output Expected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253</cp:revision>
  <dcterms:modified xsi:type="dcterms:W3CDTF">2026-08-28T22:11:01Z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