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73152"/>
            <a:ext cx="4233672" cy="6784848"/>
          </a:xfrm>
          <a:prstGeom prst="rect">
            <a:avLst/>
          </a:prstGeom>
          <a:solidFill>
            <a:srgbClr val="0D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6720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DEVELOPMENT OF A DIGITAL PLATFORM</a:t>
            </a:r>
          </a:p>
          <a:p>
            <a:pPr>
              <a:spcBef>
                <a:spcPts val="200"/>
              </a:spcBef>
              <a:defRPr sz="2500" b="1">
                <a:solidFill>
                  <a:srgbClr val="22D3EE"/>
                </a:solidFill>
                <a:latin typeface="Aptos Display"/>
              </a:defRPr>
            </a:pPr>
            <a:r>
              <a:t>FOR MULTIMODAL VISIBILITY OF COAL TRANSPORTATION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88920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EBED2"/>
                </a:solidFill>
                <a:latin typeface="Aptos"/>
              </a:defRPr>
            </a:pPr>
            <a:r>
              <a:t>Mini Project • Review 1 • Semester VII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657600"/>
            <a:ext cx="6720840" cy="214884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13632"/>
            <a:ext cx="62179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TEAM MEMBERS</a:t>
            </a:r>
          </a:p>
          <a:p>
            <a:pPr>
              <a:spcAft>
                <a:spcPts val="400"/>
              </a:spcAft>
              <a:defRPr sz="1350">
                <a:solidFill>
                  <a:srgbClr val="F8FAFC"/>
                </a:solidFill>
              </a:defRPr>
            </a:pPr>
            <a:r>
              <a:t>Nandini — 20231CSE0421</a:t>
            </a:r>
          </a:p>
          <a:p>
            <a:pPr>
              <a:spcAft>
                <a:spcPts val="400"/>
              </a:spcAft>
              <a:defRPr sz="1350">
                <a:solidFill>
                  <a:srgbClr val="F8FAFC"/>
                </a:solidFill>
              </a:defRPr>
            </a:pPr>
            <a:r>
              <a:t>Manaswi Bhujange — 20231CSE0430</a:t>
            </a:r>
          </a:p>
          <a:p>
            <a:pPr>
              <a:spcAft>
                <a:spcPts val="400"/>
              </a:spcAft>
              <a:defRPr sz="1350">
                <a:solidFill>
                  <a:srgbClr val="F8FAFC"/>
                </a:solidFill>
              </a:defRPr>
            </a:pPr>
            <a:r>
              <a:t>Biradar Ashwini — 20231CSE0400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703320"/>
            <a:ext cx="3337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D3EE"/>
                </a:solidFill>
              </a:defRPr>
            </a:pPr>
            <a:r>
              <a:t>GUIDED BY</a:t>
            </a:r>
          </a:p>
          <a:p>
            <a:pPr>
              <a:defRPr sz="1900" b="1">
                <a:solidFill>
                  <a:srgbClr val="F8FAFC"/>
                </a:solidFill>
              </a:defRPr>
            </a:pPr>
            <a:r>
              <a:t>Prof. Nayana R</a:t>
            </a:r>
          </a:p>
          <a:p>
            <a:pPr>
              <a:defRPr sz="1050">
                <a:solidFill>
                  <a:srgbClr val="AEBED2"/>
                </a:solidFill>
              </a:defRPr>
            </a:pPr>
            <a:r>
              <a:t>School of 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521208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PRESIDENCY UNIVERSITY</a:t>
            </a:r>
          </a:p>
          <a:p>
            <a:pPr>
              <a:defRPr sz="1100">
                <a:solidFill>
                  <a:srgbClr val="AEBED2"/>
                </a:solidFill>
              </a:defRPr>
            </a:pPr>
            <a:r>
              <a:t>Bengaluru • Karnataka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374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2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2.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  <a:latin typeface="Aptos"/>
              </a:defRPr>
            </a:pPr>
            <a:r>
              <a:t>What the platform is designed to solve and how it creates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10972800" cy="96012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44168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8FAFC"/>
                </a:solidFill>
              </a:defRPr>
            </a:pPr>
            <a:r>
              <a:t>A centralized cloud-based platform to monitor coal shipments moving through road, rail, or a combination of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23160"/>
            <a:ext cx="3429000" cy="324612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423160"/>
            <a:ext cx="64008" cy="3246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56946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990088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Shipment information is spread across multiple transport stages.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Delays and disruptions can be identified too late.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Manual monitoring makes coordination difficult.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Decision-makers need one clear view of shipment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23160"/>
            <a:ext cx="3429000" cy="324612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423160"/>
            <a:ext cx="64008" cy="3246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569464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PROPOSED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990088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Centralize shipment and transportation-event data.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Provide a single dashboard for road + rail visibility.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Use AI for delay and ETA prediction.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Use cloud infrastructure for storage and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423160"/>
            <a:ext cx="3474720" cy="324612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423160"/>
            <a:ext cx="64008" cy="3246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569464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KEY 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990088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Better visibility across the shipment journey.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Less manual tracking and fewer information gaps.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Faster response to predicted delays.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Data-driven operational decisions.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374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3.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  <a:latin typeface="Aptos"/>
              </a:defRPr>
            </a:pPr>
            <a:r>
              <a:t>Research background and identified gap</a:t>
            </a:r>
          </a:p>
        </p:txBody>
      </p:sp>
      <p:pic>
        <p:nvPicPr>
          <p:cNvPr id="6" name="Picture 5" descr="10001908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11365992" cy="56875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374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4. ARCHITECTURE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  <a:latin typeface="Aptos"/>
              </a:defRPr>
            </a:pPr>
            <a:r>
              <a:t>System-level view of users, data, application services, AI/ML and cloud infrastructure</a:t>
            </a:r>
          </a:p>
        </p:txBody>
      </p:sp>
      <p:pic>
        <p:nvPicPr>
          <p:cNvPr id="6" name="Picture 5" descr="10001908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11365992" cy="56875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374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5. ARCHITECTURE — PROPOSED REFINEMENTS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  <a:latin typeface="Aptos"/>
              </a:defRPr>
            </a:pPr>
            <a:r>
              <a:t>Changes that keep the prototype software-focused and realistic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49240" cy="205740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64008" cy="2057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289304"/>
            <a:ext cx="50017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  TRACKING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09928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Use shipment / transportation-event updates as the prototype data source.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GPS or external live feeds can be integrated later when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349240" cy="205740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64008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289304"/>
            <a:ext cx="50017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2  SIMPLER CLOUD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09928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Keep MySQL as the core application database.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Add cloud hosting/storage only where it provides clear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5349240" cy="205740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474720"/>
            <a:ext cx="64008" cy="2057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21024"/>
            <a:ext cx="50017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3  AI / ML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041648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Train prediction models using historical shipment data.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Generate delay probability and estimated arrival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349240" cy="205740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64008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621024"/>
            <a:ext cx="50017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4  RELIABLE DATA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41648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Validate incoming updates before storing them.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Keep the latest known shipment status visible when new data is unavailable.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806440"/>
            <a:ext cx="8549640" cy="438912"/>
          </a:xfrm>
          <a:prstGeom prst="roundRect">
            <a:avLst/>
          </a:prstGeom>
          <a:solidFill>
            <a:srgbClr val="142F4C"/>
          </a:solidFill>
          <a:ln>
            <a:solidFill>
              <a:srgbClr val="2D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5879592"/>
            <a:ext cx="8275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8FAFC"/>
                </a:solidFill>
              </a:defRPr>
            </a:pPr>
            <a:r>
              <a:t>Core flow: Data → Spring Boot Backend → MySQL / AI → React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374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6. EXPECTED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  <a:latin typeface="Aptos"/>
              </a:defRPr>
            </a:pPr>
            <a:r>
              <a:t>Prototype dashboard showing shipment visibility, predictions, alerts and analytics</a:t>
            </a:r>
          </a:p>
        </p:txBody>
      </p:sp>
      <p:pic>
        <p:nvPicPr>
          <p:cNvPr id="6" name="Picture 5" descr="1000191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11365992" cy="56875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374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7. GANTT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Planned development from 08 August to 20 November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417320"/>
            <a:ext cx="1874520" cy="420624"/>
          </a:xfrm>
          <a:prstGeom prst="roundRect">
            <a:avLst/>
          </a:prstGeom>
          <a:solidFill>
            <a:srgbClr val="0D223C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AUG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417320"/>
            <a:ext cx="1874520" cy="420624"/>
          </a:xfrm>
          <a:prstGeom prst="roundRect">
            <a:avLst/>
          </a:prstGeom>
          <a:solidFill>
            <a:srgbClr val="0D223C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SEP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0" y="1417320"/>
            <a:ext cx="1874520" cy="420624"/>
          </a:xfrm>
          <a:prstGeom prst="roundRect">
            <a:avLst/>
          </a:prstGeom>
          <a:solidFill>
            <a:srgbClr val="0D223C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OCT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417320"/>
            <a:ext cx="1874520" cy="420624"/>
          </a:xfrm>
          <a:prstGeom prst="roundRect">
            <a:avLst/>
          </a:prstGeom>
          <a:solidFill>
            <a:srgbClr val="0D223C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NOV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84248"/>
            <a:ext cx="288036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F8FAFC"/>
                </a:solidFill>
              </a:defRPr>
            </a:pPr>
            <a:r>
              <a:t>Project orientation &amp; 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984248"/>
            <a:ext cx="1874520" cy="539496"/>
          </a:xfrm>
          <a:prstGeom prst="rect">
            <a:avLst/>
          </a:prstGeom>
          <a:solidFill>
            <a:srgbClr val="22D3EE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1984248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0" y="1984248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18320" y="1984248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87752"/>
            <a:ext cx="288036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F8FAFC"/>
                </a:solidFill>
              </a:defRPr>
            </a:pPr>
            <a:r>
              <a:t>Literature review &amp;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587752"/>
            <a:ext cx="1874520" cy="539496"/>
          </a:xfrm>
          <a:prstGeom prst="rect">
            <a:avLst/>
          </a:prstGeom>
          <a:solidFill>
            <a:srgbClr val="22D3EE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2587752"/>
            <a:ext cx="1874520" cy="539496"/>
          </a:xfrm>
          <a:prstGeom prst="rect">
            <a:avLst/>
          </a:prstGeom>
          <a:solidFill>
            <a:srgbClr val="2563EB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0" y="2587752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0" y="2587752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191256"/>
            <a:ext cx="288036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F8FAFC"/>
                </a:solidFill>
              </a:defRPr>
            </a:pPr>
            <a:r>
              <a:t>UI / React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191256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77840" y="3191256"/>
            <a:ext cx="1874520" cy="539496"/>
          </a:xfrm>
          <a:prstGeom prst="rect">
            <a:avLst/>
          </a:prstGeom>
          <a:solidFill>
            <a:srgbClr val="2563EB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0" y="3191256"/>
            <a:ext cx="1874520" cy="539496"/>
          </a:xfrm>
          <a:prstGeom prst="rect">
            <a:avLst/>
          </a:prstGeom>
          <a:solidFill>
            <a:srgbClr val="2563EB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0" y="3191256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94760"/>
            <a:ext cx="288036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F8FAFC"/>
                </a:solidFill>
              </a:defRPr>
            </a:pPr>
            <a:r>
              <a:t>Spring Boot backend + MySQL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794760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77840" y="3794760"/>
            <a:ext cx="1874520" cy="539496"/>
          </a:xfrm>
          <a:prstGeom prst="rect">
            <a:avLst/>
          </a:prstGeom>
          <a:solidFill>
            <a:srgbClr val="2563EB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0" y="3794760"/>
            <a:ext cx="1874520" cy="539496"/>
          </a:xfrm>
          <a:prstGeom prst="rect">
            <a:avLst/>
          </a:prstGeom>
          <a:solidFill>
            <a:srgbClr val="2563EB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3794760"/>
            <a:ext cx="1874520" cy="539496"/>
          </a:xfrm>
          <a:prstGeom prst="rect">
            <a:avLst/>
          </a:prstGeom>
          <a:solidFill>
            <a:srgbClr val="F59E0B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398264"/>
            <a:ext cx="288036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F8FAFC"/>
                </a:solidFill>
              </a:defRPr>
            </a:pPr>
            <a:r>
              <a:t>AI delay &amp; ETA module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398264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77840" y="4398264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0" y="4398264"/>
            <a:ext cx="1874520" cy="539496"/>
          </a:xfrm>
          <a:prstGeom prst="rect">
            <a:avLst/>
          </a:prstGeom>
          <a:solidFill>
            <a:srgbClr val="2563EB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18320" y="4398264"/>
            <a:ext cx="1874520" cy="539496"/>
          </a:xfrm>
          <a:prstGeom prst="rect">
            <a:avLst/>
          </a:prstGeom>
          <a:solidFill>
            <a:srgbClr val="F59E0B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001768"/>
            <a:ext cx="288036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F8FAFC"/>
                </a:solidFill>
              </a:defRPr>
            </a:pPr>
            <a:r>
              <a:t>Cloud integration &amp; testing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5001768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77840" y="5001768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0" y="5001768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8320" y="5001768"/>
            <a:ext cx="1874520" cy="539496"/>
          </a:xfrm>
          <a:prstGeom prst="rect">
            <a:avLst/>
          </a:prstGeom>
          <a:solidFill>
            <a:srgbClr val="F59E0B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605272"/>
            <a:ext cx="288036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F8FAFC"/>
                </a:solidFill>
              </a:defRPr>
            </a:pPr>
            <a:r>
              <a:t>Integration, documentation &amp; PPT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5605272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77840" y="5605272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80" y="5605272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18320" y="5605272"/>
            <a:ext cx="1874520" cy="539496"/>
          </a:xfrm>
          <a:prstGeom prst="rect">
            <a:avLst/>
          </a:prstGeom>
          <a:solidFill>
            <a:srgbClr val="F59E0B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6208776"/>
            <a:ext cx="288036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F8FAFC"/>
                </a:solidFill>
              </a:defRPr>
            </a:pPr>
            <a:r>
              <a:t>Final testing &amp; submission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6208776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77840" y="6208776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98080" y="6208776"/>
            <a:ext cx="1874520" cy="539496"/>
          </a:xfrm>
          <a:prstGeom prst="rect">
            <a:avLst/>
          </a:prstGeom>
          <a:solidFill>
            <a:srgbClr val="162A42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18320" y="6208776"/>
            <a:ext cx="1874520" cy="539496"/>
          </a:xfrm>
          <a:prstGeom prst="rect">
            <a:avLst/>
          </a:prstGeom>
          <a:solidFill>
            <a:srgbClr val="F59E0B"/>
          </a:solidFill>
          <a:ln>
            <a:solidFill>
              <a:srgbClr val="2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85800" y="626364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6227064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Project start • 08 Aug 2026</a:t>
            </a:r>
          </a:p>
        </p:txBody>
      </p:sp>
      <p:sp>
        <p:nvSpPr>
          <p:cNvPr id="52" name="Oval 51"/>
          <p:cNvSpPr/>
          <p:nvPr/>
        </p:nvSpPr>
        <p:spPr>
          <a:xfrm>
            <a:off x="4480560" y="626364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6227064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Review 1 • 29 Aug 2026</a:t>
            </a:r>
          </a:p>
        </p:txBody>
      </p:sp>
      <p:sp>
        <p:nvSpPr>
          <p:cNvPr id="54" name="Oval 53"/>
          <p:cNvSpPr/>
          <p:nvPr/>
        </p:nvSpPr>
        <p:spPr>
          <a:xfrm>
            <a:off x="8275320" y="626364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6227064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Target completion • 20 Nov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374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8992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8.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  <a:latin typeface="Aptos"/>
              </a:defRPr>
            </a:pPr>
            <a:r>
              <a:t>What the review demonstrates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972800" cy="114300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1143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80744"/>
            <a:ext cx="106253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PROJECT IN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A cloud-based digital platform that brings coal shipment information from multiple transport stages into one place and adds AI-based decision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303520" cy="246888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64008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843784"/>
            <a:ext cx="4956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64408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Frontend: React + JavaScript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Backend: Java + Spring Boot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Database: MySQL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AI/ML: delay &amp; ETA prediction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Cloud: application/data hosting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97480"/>
            <a:ext cx="5394960" cy="2468880"/>
          </a:xfrm>
          <a:prstGeom prst="roundRect">
            <a:avLst/>
          </a:prstGeom>
          <a:solidFill>
            <a:srgbClr val="0D223C"/>
          </a:solidFill>
          <a:ln>
            <a:solidFill>
              <a:srgbClr val="26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697480"/>
            <a:ext cx="64008" cy="2468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843784"/>
            <a:ext cx="50474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EXPECTED DEMONSTRATION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264408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Create and manage shipments.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Record road / rail transportation events.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View latest known status and route.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Show AI-based delay / ETA prediction.</a:t>
            </a:r>
          </a:p>
          <a:p>
            <a:pPr>
              <a:spcAft>
                <a:spcPts val="900"/>
              </a:spcAft>
              <a:defRPr sz="1250">
                <a:solidFill>
                  <a:srgbClr val="E2E8F0"/>
                </a:solidFill>
                <a:latin typeface="Aptos"/>
              </a:defRPr>
            </a:pPr>
            <a:r>
              <a:t>Display alerts, reports and analytics.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374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56539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ED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00191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1800">
                <a:solidFill>
                  <a:srgbClr val="22D3EE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703320"/>
            <a:ext cx="8138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Development of a Digital Platform for Multimodal Visibility of Coal Transportation</a:t>
            </a:r>
          </a:p>
          <a:p>
            <a:pPr algn="ctr">
              <a:defRPr sz="1200">
                <a:solidFill>
                  <a:srgbClr val="E2E8F0"/>
                </a:solidFill>
              </a:defRPr>
            </a:pPr>
            <a:r>
              <a:t>Nandini • Manaswi Bhujange • Biradar Ashwini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